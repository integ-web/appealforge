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 rot="10800000">
            <a:off x="685800" y="685800"/>
            <a:ext cx="502920" cy="502920"/>
          </a:xfrm>
          <a:prstGeom prst="homePlate">
            <a:avLst/>
          </a:prstGeom>
          <a:solidFill>
            <a:srgbClr val="0D1B2A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826617" y="786384"/>
            <a:ext cx="226314" cy="226314"/>
          </a:xfrm>
          <a:prstGeom prst="star5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6858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APPEALFORGE PAC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7178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Denial-to-appeal evidence assembly
for post-acute Medicare Advantage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7223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5EA"/>
                </a:solidFill>
                <a:latin typeface="Aptos"/>
              </a:rPr>
              <a:t>A polished, source-cited workflow built for SNF/IRF/LTCH operators facing Medicare Advantage admission and continued-stay denials.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09160"/>
            <a:ext cx="2148840" cy="123444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846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6B44B"/>
                </a:solidFill>
                <a:latin typeface="Aptos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3095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CE5EA"/>
                </a:solidFill>
                <a:latin typeface="Aptos"/>
              </a:rPr>
              <a:t>OIG SNF appealed denials overturned in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709160"/>
            <a:ext cx="2148840" cy="123444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4846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EEAD4"/>
                </a:solidFill>
                <a:latin typeface="Aptos"/>
              </a:rPr>
              <a:t>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33095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CE5EA"/>
                </a:solidFill>
                <a:latin typeface="Aptos"/>
              </a:rPr>
              <a:t>Target appeal packet draft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4709160"/>
            <a:ext cx="2148840" cy="123444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4846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BF71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533095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CE5EA"/>
                </a:solidFill>
                <a:latin typeface="Aptos"/>
              </a:rPr>
              <a:t>Uncited clinical claims allowed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353312"/>
            <a:ext cx="3063240" cy="4480560"/>
          </a:xfrm>
          <a:prstGeom prst="roundRect">
            <a:avLst/>
          </a:prstGeom>
          <a:solidFill>
            <a:srgbClr val="F8F5EF"/>
          </a:solidFill>
          <a:ln>
            <a:solidFill>
              <a:srgbClr val="E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6276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111F"/>
                </a:solidFill>
                <a:latin typeface="Aptos"/>
              </a:rPr>
              <a:t>Packet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176272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8111F"/>
                </a:solidFill>
                <a:latin typeface="Georgia"/>
              </a:rPr>
              <a:t>Re: Expedited reconsideration
The denial states the requested SNF admission does not meet skilled level of care.
The attached evidence supports daily skilled nursing and therapy needs.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212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6050"/>
                </a:solidFill>
                <a:latin typeface="Aptos"/>
              </a:rPr>
              <a:t>Draft · citations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critical unsolved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Winnable post-acute denials are not operationally appealable fast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The appeal is often not blocked by clinical facts. It is blocked by document chaos, deadline pressure, and staff bandwidth.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6766560" cy="53035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Denial letter gives a reason, but evidence is buried across PDFs and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56432"/>
            <a:ext cx="6766560" cy="53035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75304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UR/admissions teams copy, paste, fax, and chase signatures under deadline.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69664"/>
            <a:ext cx="6766560" cy="53035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88536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Physicians will not sign weak packets without clear source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82896"/>
            <a:ext cx="6766560" cy="53035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0176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Outcome data is rarely captured, so ROI and payer patterns stay invisible.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81328"/>
            <a:ext cx="3063240" cy="411480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7830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EEAD4"/>
                </a:solidFill>
                <a:latin typeface="Aptos"/>
              </a:rPr>
              <a:t>The exact wedge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3317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Generate a source-cited Medicare Advantage reconsideration packet for denied SNF admission or continued stay in under 10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6634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B44B"/>
                </a:solidFill>
                <a:latin typeface="Aptos"/>
              </a:rPr>
              <a:t>Appeals first, not broad prior-auth automation.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signal is strong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The market data points to a last-mile appeal execution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148840" cy="123444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54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EEAD4"/>
                </a:solidFill>
                <a:latin typeface="Aptos"/>
              </a:rPr>
              <a:t>52.8M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CE5EA"/>
                </a:solidFill>
                <a:latin typeface="Aptos"/>
              </a:rPr>
              <a:t>MA prior authorization determinations in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417320"/>
            <a:ext cx="2148840" cy="123444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554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6B44B"/>
                </a:solidFill>
                <a:latin typeface="Aptos"/>
              </a:rPr>
              <a:t>4.1M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391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CE5EA"/>
                </a:solidFill>
                <a:latin typeface="Aptos"/>
              </a:rPr>
              <a:t>Denied in full or in part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417320"/>
            <a:ext cx="2148840" cy="123444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5272" y="1554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76F51"/>
                </a:solidFill>
                <a:latin typeface="Aptos"/>
              </a:rPr>
              <a:t>11.5%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0391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CE5EA"/>
                </a:solidFill>
                <a:latin typeface="Aptos"/>
              </a:rPr>
              <a:t>Denied requests appealed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17320"/>
            <a:ext cx="2148840" cy="123444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1554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BF71"/>
                </a:solidFill>
                <a:latin typeface="Aptos"/>
              </a:rPr>
              <a:t>&gt;80%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391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CE5EA"/>
                </a:solidFill>
                <a:latin typeface="Aptos"/>
              </a:rPr>
              <a:t>Appealed denials overturned in 2019-2024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5303520" cy="205740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456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Post-acute SNF wedge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77639"/>
            <a:ext cx="4434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5EA"/>
                </a:solidFill>
                <a:latin typeface="Aptos"/>
              </a:rPr>
              <a:t>HHS OIG found that in a June 2024 sample, 19 MAOs denied 12% of SNF admission requests. Only 18% were appealed. When appealed, 95% were overturned.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154680"/>
            <a:ext cx="5074920" cy="205740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456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Product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977639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5EA"/>
                </a:solidFill>
                <a:latin typeface="Aptos"/>
              </a:rPr>
              <a:t>Do not build generic PA software first. Build the narrow evidence-to-packet workflow where the denial reason, deadline, and outcome are measurable.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63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A0AE"/>
                </a:solidFill>
                <a:latin typeface="Aptos"/>
              </a:rPr>
              <a:t>Sources: KFF, HHS OIG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product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One guided path from denial letter to reviewed packet.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46120" cy="13258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6B44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Create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5EA"/>
                </a:solidFill>
                <a:latin typeface="Aptos"/>
              </a:rPr>
              <a:t>Facility, plan, service, denial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554480"/>
            <a:ext cx="3246120" cy="13258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71907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6B44B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1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Upload packet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1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5EA"/>
                </a:solidFill>
                <a:latin typeface="Aptos"/>
              </a:rPr>
              <a:t>Denial + clinical PDFs.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246120" cy="13258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71907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6B44B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Parse denial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5EA"/>
                </a:solidFill>
                <a:latin typeface="Aptos"/>
              </a:rPr>
              <a:t>Reason, deadline, appeal route.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3246120" cy="13258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63931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6B44B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639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Map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06908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5EA"/>
                </a:solidFill>
                <a:latin typeface="Aptos"/>
              </a:rPr>
              <a:t>Criteria -&gt; source quotes.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474720"/>
            <a:ext cx="3246120" cy="13258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363931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6B44B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1" y="3639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Resolve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1" y="406908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5EA"/>
                </a:solidFill>
                <a:latin typeface="Aptos"/>
              </a:rPr>
              <a:t>Missing evidence checklist.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474720"/>
            <a:ext cx="3246120" cy="13258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639312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6B44B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3639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Export packet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406908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5EA"/>
                </a:solidFill>
                <a:latin typeface="Aptos"/>
              </a:rPr>
              <a:t>Human-reviewed PDF.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Design should create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Make users want to login - premium, calm, precise.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12080" cy="434340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556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Midnight clinical atelier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5EA"/>
                </a:solidFill>
                <a:latin typeface="Aptos"/>
              </a:rPr>
              <a:t>Dark command-center shell.
Warm paper packet preview.
Teal for action.
Amber for deadline.
Coral only for true risk.
Source quotes as first-class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17320"/>
            <a:ext cx="4846320" cy="4343400"/>
          </a:xfrm>
          <a:prstGeom prst="roundRect">
            <a:avLst/>
          </a:prstGeom>
          <a:solidFill>
            <a:srgbClr val="F8F5EF"/>
          </a:solidFill>
          <a:ln>
            <a:solidFill>
              <a:srgbClr val="E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111F"/>
                </a:solidFill>
                <a:latin typeface="Aptos"/>
              </a:rPr>
              <a:t>Evidence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2395728"/>
            <a:ext cx="3886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84848" y="2395728"/>
            <a:ext cx="73152" cy="502920"/>
          </a:xfrm>
          <a:prstGeom prst="rect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25146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111F"/>
                </a:solidFill>
                <a:latin typeface="Aptos"/>
              </a:rPr>
              <a:t>Evidence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4848" y="3172968"/>
            <a:ext cx="3886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84848" y="3172968"/>
            <a:ext cx="73152" cy="502920"/>
          </a:xfrm>
          <a:prstGeom prst="rect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32918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111F"/>
                </a:solidFill>
                <a:latin typeface="Aptos"/>
              </a:rPr>
              <a:t>Needs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3950208"/>
            <a:ext cx="3886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84848" y="3950208"/>
            <a:ext cx="73152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0690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111F"/>
                </a:solidFill>
                <a:latin typeface="Aptos"/>
              </a:rPr>
              <a:t>Unsupported claim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507492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A62"/>
                </a:solidFill>
                <a:latin typeface="Aptos"/>
              </a:rPr>
              <a:t>Not a default dashboard. A clinical evidence workbench.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evidence map is the hero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It turns denial rationale into source-backed review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37960" cy="448056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737360"/>
            <a:ext cx="5943600" cy="68580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1737360"/>
            <a:ext cx="64008" cy="6858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18653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Daily skilled nursing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92807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EEAD4"/>
                </a:solidFill>
                <a:latin typeface="Aptos"/>
              </a:rPr>
              <a:t>2 citations · reviewed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670048"/>
            <a:ext cx="5943600" cy="68580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2670048"/>
            <a:ext cx="64008" cy="685800"/>
          </a:xfrm>
          <a:prstGeom prst="rect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79806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Skilled therapy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2549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6B44B"/>
                </a:solidFill>
                <a:latin typeface="Aptos"/>
              </a:rPr>
              <a:t>1 citation · needs note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602736"/>
            <a:ext cx="5943600" cy="68580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3602736"/>
            <a:ext cx="64008" cy="685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7307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Lower level unsafe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5818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76F51"/>
                </a:solidFill>
                <a:latin typeface="Aptos"/>
              </a:rPr>
              <a:t>blocked · no 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535424"/>
            <a:ext cx="5943600" cy="685800"/>
          </a:xfrm>
          <a:prstGeom prst="roundRect">
            <a:avLst/>
          </a:prstGeom>
          <a:solidFill>
            <a:srgbClr val="0D1B2A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4535424"/>
            <a:ext cx="64008" cy="685800"/>
          </a:xfrm>
          <a:prstGeom prst="rect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6634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Physician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690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6B44B"/>
                </a:solidFill>
                <a:latin typeface="Aptos"/>
              </a:rPr>
              <a:t>missing · owner: Medical Director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417320"/>
            <a:ext cx="3794760" cy="4480560"/>
          </a:xfrm>
          <a:prstGeom prst="roundRect">
            <a:avLst/>
          </a:prstGeom>
          <a:solidFill>
            <a:srgbClr val="F8F5EF"/>
          </a:solidFill>
          <a:ln>
            <a:solidFill>
              <a:srgbClr val="E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7556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8111F"/>
                </a:solidFill>
                <a:latin typeface="Aptos"/>
              </a:rPr>
              <a:t>Source quote drawer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395728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08111F"/>
                </a:solidFill>
                <a:latin typeface="Georgia"/>
              </a:rPr>
              <a:t>"Patient requires moderate assistance for transfers and is unable to ambulate safely without skilled cueing."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34340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6C"/>
                </a:solidFill>
                <a:latin typeface="Aptos"/>
              </a:rPr>
              <a:t>Therapy Eval · page 4
Supports: skilled therapy need, fall risk, lower-level rebuttal.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Safety is the product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AppealForge should be safer than manual copy/paste.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10332720" cy="62179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721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Aptos"/>
              </a:rPr>
              <a:t>Citation-only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472184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Every clinical assertion traces to document id, page, and quote.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94560"/>
            <a:ext cx="10332720" cy="62179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408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B44B"/>
                </a:solidFill>
                <a:latin typeface="Aptos"/>
              </a:rPr>
              <a:t>Human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40864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Drafts require staff/clinical/physician review before approved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39"/>
            <a:ext cx="10332720" cy="62179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0954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Aptos"/>
              </a:rPr>
              <a:t>Missing evidence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209544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Absence becomes a task, not a hallucination.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31920"/>
            <a:ext cx="10332720" cy="62179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782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6B44B"/>
                </a:solidFill>
                <a:latin typeface="Aptos"/>
              </a:rPr>
              <a:t>Audit-ready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078224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Sensitive actions are logged without PHI in metadata.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00600"/>
            <a:ext cx="10332720" cy="621792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4690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Aptos"/>
              </a:rPr>
              <a:t>No proprietary criteria misuse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946904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E5EA"/>
                </a:solidFill>
                <a:latin typeface="Aptos"/>
              </a:rPr>
              <a:t>Use public/general or customer-licensed criteria only.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Buildable by Codex as a local demo, production-shaped for healthcare.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4892040" cy="91440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8191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Next.js 15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5EA"/>
                </a:solidFill>
                <a:latin typeface="Aptos"/>
              </a:rPr>
              <a:t>Polished app shell, case screens, evidence map, packet editor.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4892040" cy="91440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8191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Prisma +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5EA"/>
                </a:solidFill>
                <a:latin typeface="Aptos"/>
              </a:rPr>
              <a:t>Organization/facility scoped healthcare workflow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34640"/>
            <a:ext cx="4892040" cy="91440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9923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Object storage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5EA"/>
                </a:solidFill>
                <a:latin typeface="Aptos"/>
              </a:rPr>
              <a:t>PDFs and exported packet versions.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34640"/>
            <a:ext cx="4892040" cy="91440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9923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Worker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5EA"/>
                </a:solidFill>
                <a:latin typeface="Aptos"/>
              </a:rPr>
              <a:t>Extraction, parser, evidence, packet generation, export.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51960"/>
            <a:ext cx="4892040" cy="91440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1655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AI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5EA"/>
                </a:solidFill>
                <a:latin typeface="Aptos"/>
              </a:rPr>
              <a:t>Structured outputs with citation validators and claim blocker.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251960"/>
            <a:ext cx="4892040" cy="91440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1655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Audit/RBAC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548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E5EA"/>
                </a:solidFill>
                <a:latin typeface="Aptos"/>
              </a:rPr>
              <a:t>PHI-safe security posture from day 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MVP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No payer portal automation. No EHR integration. Prove the packet workflow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212080" cy="45262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Build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4884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Login/demo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8775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Case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2666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Upload + extraction mock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6557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Denial parser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4487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Evidence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4340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Missing evidence 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25880"/>
            <a:ext cx="5212080" cy="45262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B44B"/>
                </a:solidFill>
                <a:latin typeface="Aptos"/>
              </a:rPr>
              <a:t>Do not build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4884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Autonomous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8775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Payer portal scraping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02666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Full EHR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6557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Live PHI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04487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Consumer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34340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• Claims adjudication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GTM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Start with regional operators and historical packet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383280" cy="42976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EAD4"/>
                </a:solidFill>
                <a:latin typeface="Aptos"/>
              </a:rPr>
              <a:t>ICP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Regional SNF/post-acute operators
3-50 facilities
High MA census
Recurring admission/continued-stay denials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83280" cy="42976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6B44B"/>
                </a:solidFill>
                <a:latin typeface="Aptos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3172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90 days
$1.5k-$3k per facility/mo
De-ID historical cases first
Production only after BAAs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83280" cy="429768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FBF71"/>
                </a:solidFill>
                <a:latin typeface="Aptos"/>
              </a:rPr>
              <a:t>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CE5EA"/>
                </a:solidFill>
                <a:latin typeface="Aptos"/>
              </a:rPr>
              <a:t>Packet time reduced
More denials appealed
Physician trust
Outcome/ROI 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14-day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Stress test before overbuilding.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828800" cy="192024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677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B44B"/>
                </a:solidFill>
                <a:latin typeface="Aptos"/>
              </a:rPr>
              <a:t>Days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889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Target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965960"/>
            <a:ext cx="1828800" cy="192024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22677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B44B"/>
                </a:solidFill>
                <a:latin typeface="Aptos"/>
              </a:rPr>
              <a:t>Days 3-7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7889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20 discovery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965960"/>
            <a:ext cx="1828800" cy="192024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2677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B44B"/>
                </a:solidFill>
                <a:latin typeface="Aptos"/>
              </a:rPr>
              <a:t>Days 8-10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7889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3-5 de-ID packet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965960"/>
            <a:ext cx="1828800" cy="192024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22677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B44B"/>
                </a:solidFill>
                <a:latin typeface="Aptos"/>
              </a:rPr>
              <a:t>Days 11-12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27889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Demo 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965960"/>
            <a:ext cx="1828800" cy="192024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2677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B44B"/>
                </a:solidFill>
                <a:latin typeface="Aptos"/>
              </a:rPr>
              <a:t>Days 13-14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7889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Pilot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CE5EA"/>
                </a:solidFill>
                <a:latin typeface="Aptos"/>
              </a:rPr>
              <a:t>Pass only if at least five operators confirm recurring MA denials, painful appeal assembly, some appeal wins, de-identified data access, and pilot budget ownership.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6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Codex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A0AE"/>
                </a:solidFill>
                <a:latin typeface="Aptos"/>
              </a:rPr>
              <a:t>Tokenmax the build so it does not stop at a scaffold.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502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EEAD4"/>
                </a:solidFill>
                <a:latin typeface="Aptos"/>
              </a:rPr>
              <a:t>AppealForge PAC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212080" cy="4480560"/>
          </a:xfrm>
          <a:prstGeom prst="roundRect">
            <a:avLst/>
          </a:prstGeom>
          <a:solidFill>
            <a:srgbClr val="123047"/>
          </a:solidFill>
          <a:ln>
            <a:solidFill>
              <a:srgbClr val="3C5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EEAD4"/>
                </a:solidFill>
                <a:latin typeface="Aptos"/>
              </a:rPr>
              <a:t>Combined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CE5EA"/>
                </a:solidFill>
                <a:latin typeface="Aptos"/>
              </a:rPr>
              <a:t>Use SPRINT_00_COMBINED_ULTRA.md. It forces `.codex/progress.md`, end-to-end screens, seed data, tests, export, audit, and polish.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6B44B"/>
                </a:solidFill>
                <a:latin typeface="Aptos"/>
              </a:rPr>
              <a:t>Anti-premature-stop rule:
not done after scaffolding;
not done after static pages;
not done after one green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212080" cy="4480560"/>
          </a:xfrm>
          <a:prstGeom prst="roundRect">
            <a:avLst/>
          </a:prstGeom>
          <a:solidFill>
            <a:srgbClr val="F8F5EF"/>
          </a:solidFill>
          <a:ln>
            <a:solidFill>
              <a:srgbClr val="E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645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8111F"/>
                </a:solidFill>
                <a:latin typeface="Aptos"/>
              </a:rPr>
              <a:t>Fallback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2402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8111F"/>
                </a:solidFill>
                <a:latin typeface="Aptos"/>
              </a:rPr>
              <a:t>• SPRINT_01_FOUNDATION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5176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8111F"/>
                </a:solidFill>
                <a:latin typeface="Aptos"/>
              </a:rPr>
              <a:t>• SPRINT_02_UI_DESIGN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8111F"/>
                </a:solidFill>
                <a:latin typeface="Aptos"/>
              </a:rPr>
              <a:t>• SPRINT_03_DOCUMENT_AI_WORKFLOW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4747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8111F"/>
                </a:solidFill>
                <a:latin typeface="Aptos"/>
              </a:rPr>
              <a:t>• SPRINT_04_EVIDENCE_PACKET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8862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8111F"/>
                </a:solidFill>
                <a:latin typeface="Aptos"/>
              </a:rPr>
              <a:t>• CONTINUE_PROMPT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2976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8111F"/>
                </a:solidFill>
                <a:latin typeface="Aptos"/>
              </a:rPr>
              <a:t>• REVIEW_POLISH_PROMPT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3550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A0A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